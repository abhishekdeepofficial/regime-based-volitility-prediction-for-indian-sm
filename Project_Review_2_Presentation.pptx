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D6"/>
                </a:solidFill>
                <a:latin typeface="Calibri"/>
              </a:defRPr>
            </a:pPr>
            <a:r>
              <a:t>PROJECT REVIEW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Regime-Aware Multi-Asset</a:t>
            </a:r>
            <a:br/>
            <a:r>
              <a:t>Volatility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AA"/>
                </a:solidFill>
                <a:latin typeface="Calibri"/>
              </a:defRPr>
            </a:pPr>
            <a:r>
              <a:t>Using Temporal Fusion Transformers for Indian Equity Markets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931920"/>
            <a:ext cx="301752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Abhishek Deep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M.Tech — AI and Data Science Engineering</a:t>
            </a:r>
            <a:br/>
            <a:r>
              <a:t>Christ University, Bangalore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alibri"/>
              </a:defRPr>
            </a:pPr>
            <a:r>
              <a:t>Guide: [Guide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1.  Abstract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2.  Problem Statement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3.  Objectives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4.  System Architecture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5.  Module Description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6.  Implementation Details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7.  Results &amp; Analysis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8.  Conclusion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9. 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96D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Abstract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▸ A hybrid deep learning framework to forecast next-day realized volatility across 14 stocks on the NSE (India)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▸ Integrates high-frequency 5-minute data (~2.65 million observations over ~10 years)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▸ Combines HMM-derived market regimes, GARCH conditional volatility, and DCC cross-asset correlations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▸ Uses a Temporal Fusion Transformer (TFT) — an interpretable attention-based deep learning model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▸ Model achieves R² = 0.976 with just 1.90% error (MAPE)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▸ Ablation study quantifies contribution of volatility persistence vs. feature-based prediction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▸ Interpretability analysis reveals the model learns HAR-RV-like autoregressive 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96D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▸ Accurate volatility forecasting is critical for risk management, option pricing, and portfolio optimization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▸ Traditional models (GARCH, HAR-RV) have inherent limitations: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 –  GARCH assumes parametric distributions and is restricted to univariate settings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 –  HAR-RV captures long memory but assumes linear dynamics only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▸ Indian equity markets are under-studied compared to US/EU markets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▸ Existing deep learning models for volatility lack interpretability — they act as black boxes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▸ No comprehensive study combines regime-awareness, cross-asset learning, and interpretable deep learning for Indian markets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 — Formulation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▸ Given 5-minute OHLCV data for 14 NSE blue-chip stocks (~2.65M observations):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 Can we build a model that: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 ① Forecasts next-day realized volatility with high accuracy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 ② Adapts to different market regimes (calm, normal, volatile, extreme)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 ③ Learns across multiple stocks simultaneously (multi-asset)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 ④ Provides interpretable predictions (not a black box)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▸ Key challenge: Disentangling genuine predictive signal from autoregressive persistence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96D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Objectives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1.  Build an end-to-end data pipeline for processing 5-minute intraday data from 14 NSE stocks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2.  Engineer 47 financial features including multi-scale realized volatility, jump detection, and range estimators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3.  Implement a 4-state Hidden Markov Model for market regime detection (Low / Normal / High / Extreme volatility)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4.  Integrate GARCH(1,1) conditional volatility and DCC cross-asset correlations as hybrid features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5.  Train a Temporal Fusion Transformer (TFT) for multi-asset volatility forecasting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6.  Conduct ablation study to quantify autoregressive contribution vs. feature-based prediction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7.  Analyze model interpretability using TFT's Variable Selection Networks and attention mechanisms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8.  Evaluate regime-specific model performance across all market conditions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96D6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 —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The system follows a 6-stage pipeline: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Stage 1 →  Raw 5-min OHLCV data ingestion (14 NSE stocks, ~2.65M rows)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Stage 2 →  Data preprocessing (outlier removal, missing values, seasonality adjustment)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Stage 3 →  Parallel feature engineering (5 feature groups → 47 features)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Stage 4 →  Statistical model fitting (HMM regime labels + GARCH/DCC features)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Stage 5 →  Feature consolidation into TFT input format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Stage 6 →  Temporal Fusion Transformer → Next-day RV forecast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 — Pipeline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0" y="1188720"/>
            <a:ext cx="4114800" cy="640080"/>
          </a:xfrm>
          <a:prstGeom prst="roundRect">
            <a:avLst/>
          </a:prstGeom>
          <a:solidFill>
            <a:srgbClr val="0096D6"/>
          </a:solidFill>
          <a:ln w="1270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Raw 5-min OHLCV Data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(14 NSE Stocks)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2103120"/>
            <a:ext cx="4114800" cy="640080"/>
          </a:xfrm>
          <a:prstGeom prst="roundRect">
            <a:avLst/>
          </a:prstGeom>
          <a:solidFill>
            <a:srgbClr val="2A6A9A"/>
          </a:solidFill>
          <a:ln w="1270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Data Preprocessing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(Cleaning, Deseasonalization)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828800" cy="640080"/>
          </a:xfrm>
          <a:prstGeom prst="roundRect">
            <a:avLst/>
          </a:prstGeom>
          <a:solidFill>
            <a:srgbClr val="335577"/>
          </a:solidFill>
          <a:ln w="1270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Realized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Volatility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3200400"/>
            <a:ext cx="1828800" cy="640080"/>
          </a:xfrm>
          <a:prstGeom prst="roundRect">
            <a:avLst/>
          </a:prstGeom>
          <a:solidFill>
            <a:srgbClr val="335577"/>
          </a:solidFill>
          <a:ln w="1270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HAR-RV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Lags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3200400"/>
            <a:ext cx="1828800" cy="640080"/>
          </a:xfrm>
          <a:prstGeom prst="roundRect">
            <a:avLst/>
          </a:prstGeom>
          <a:solidFill>
            <a:srgbClr val="335577"/>
          </a:solidFill>
          <a:ln w="1270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Jump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200400"/>
            <a:ext cx="1828800" cy="640080"/>
          </a:xfrm>
          <a:prstGeom prst="roundRect">
            <a:avLst/>
          </a:prstGeom>
          <a:solidFill>
            <a:srgbClr val="335577"/>
          </a:solidFill>
          <a:ln w="1270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Range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Estimators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3200400"/>
            <a:ext cx="1828800" cy="640080"/>
          </a:xfrm>
          <a:prstGeom prst="roundRect">
            <a:avLst/>
          </a:prstGeom>
          <a:solidFill>
            <a:srgbClr val="335577"/>
          </a:solidFill>
          <a:ln w="1270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Volume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297680"/>
            <a:ext cx="3200400" cy="640080"/>
          </a:xfrm>
          <a:prstGeom prst="roundRect">
            <a:avLst/>
          </a:prstGeom>
          <a:solidFill>
            <a:srgbClr val="7B2D8E"/>
          </a:solidFill>
          <a:ln w="1270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HMM (4-state)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→ Regime Labels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297680"/>
            <a:ext cx="3200400" cy="640080"/>
          </a:xfrm>
          <a:prstGeom prst="roundRect">
            <a:avLst/>
          </a:prstGeom>
          <a:solidFill>
            <a:srgbClr val="7B2D8E"/>
          </a:solidFill>
          <a:ln w="1270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GARCH(1,1) + DCC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→ σ_t, ρ_t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5303520"/>
            <a:ext cx="6675120" cy="548640"/>
          </a:xfrm>
          <a:prstGeom prst="roundRect">
            <a:avLst/>
          </a:prstGeom>
          <a:solidFill>
            <a:srgbClr val="0D7C66"/>
          </a:solidFill>
          <a:ln w="1270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Feature Pool (47 features) + Temporal Encoding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6126480"/>
            <a:ext cx="8503920" cy="640080"/>
          </a:xfrm>
          <a:prstGeom prst="roundRect">
            <a:avLst/>
          </a:prstGeom>
          <a:solidFill>
            <a:srgbClr val="0096D6"/>
          </a:solidFill>
          <a:ln w="1270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Temporal Fusion Transformer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(VSN → LSTM Encoder-Decoder → Multi-Head Attention → Output)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96D6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Module Description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Module 1 — Data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data_loader.py — Loads raw 5-minute OHLCV CSV files for all 14 stocks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preprocessor.py — Filters trading hours (9:15 AM – 3:30 PM IST), removes bad ticks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feature_engineering.py — Computes all 47 features: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   –  Multi-scale Realized Volatility (1h, half-day, 1d, 1w windows)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   –  HAR-RV lagged features (1-bar, 1-hour, 1-day, 1-week lags)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   –  Jump detection (Bipower Variation, Jump ratio, circuit breakers)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   –  Range estimators (Parkinson, Garman-Klass, Rogers-Satchell)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   –  Temporal encodings (cyclical sin/cos for hour, day, month)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pipeline.py — Orchestrates: load → preprocess → feature engineering → target creation → pooling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Output: pooled_data.parquet (2.65M rows × 47 features)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Module 2 — Statistical Models (HMM, GARCH, DCC)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HMM Regime Detection (hmm_module.py):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   –  4-state Gaussian HMM trained on market-average log-returns and daily RV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   –  States: Low Volatility → Normal → High → Extreme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   –  Enables regime-aware conditioning of the TFT model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GARCH(1,1) Conditional Volatility (garch.py):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   –  Fits GARCH(1,1), EGARCH, GJR-GARCH per stock (Student-t distribution)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   –  Best model selected by AIC — outputs σ_t (time-varying volatility)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DCC Cross-Asset Correlation (dcc.py):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   –  Rolling correlation of GARCH-standardized residuals with market return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   –  Captures dynamic inter-stock dependencies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Module 3 — Temporal Fusion Transformer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TFT Architecture (Lim et al., 2021) — 1.9M parameters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  –  Variable Selection Networks → Automatic feature importance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  –  Gated Residual Networks → Non-linear feature processing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  –  LSTM Encoder (75 bars) → Decoder (1 step ahead)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  –  Multi-Head Attention (4 heads) → Temporal pattern learning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Key TFT Advantage: Built-in interpretability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  –  Shows which features the model focuses 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  –  Reveals temporal attention patterns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Target: log(1 + next-day Realized Volatility)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GroupNormalizer per stock (softplus transformation)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Model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463040"/>
          <a:ext cx="9144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Parameters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1.9 Million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Hidden Size / Attention Heads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128 / 4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Encoder Length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75 bars (1 trading day)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Prediction Length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 step (next day)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Dropout / Learning Rate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0.15 / 0.001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Early Stopping Patience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 epochs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Batch Size / Train Batches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64 / 1,000 per epoch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Normalizer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GroupNormalizer (per-stock, softplus)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Loss Function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96D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Implementation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Implementation —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Language: Python 3.x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Deep Learning: PyTorch + PyTorch Lightning + PyTorch Forecasting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Statistical Models: arch (GARCH), hmmlearn (HMM), statsmodels (HAR-RV)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Data Processing: Pandas, NumPy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Visualization: Matplotlib, Seaborn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Hyperparameter Tuning: Optuna (Bayesian optimization)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Cloud Training: Kaggle (Tesla T4 GPU — 15.6 GB)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Pipeline: 8-step end-to-end pipeline (run_pipeline.py)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  Step 1: Data Preprocessing &amp; Pooling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  Step 2–5: HMM → DCC → Attach Regimes → GARCH Features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  Step 6–8: Train TFT → Evaluate → Visualize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Implementation — Dataset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63040"/>
          <a:ext cx="10332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 Source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5-minute OHLCV bars, NSE India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Stocks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14 blue-chip stocks (RELIANCE, HDFCBANK, TCS, INFY, etc.)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 Span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~10 years of intraday data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Observations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~2.65 Million (75 bars/day × 250 days/year × 14 stocks)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Trading Hours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9:15 AM – 3:30 PM IST (75 bars per day)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Features Engineered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47 features across 6 categories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Variable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log(1 + next-day Realized Volatility)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Train/Val Split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Strictly temporal (no data leakage)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Implementation — Feature Engineering (47 Features)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84632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Realized Volatility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RV_1h, RV_half_day, RV_1d, RV_1w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Multi-scale RV (√Σr²) at 4 windows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HAR-RV Lags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RV_1d_lag1, lag12, lag75, lag375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Lagged RV for autoregressive capture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Jump Detection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BV_1d, Jump_1d, Jump_ratio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Bipower variation, circuit breakers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Range Estimators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Parkinson, Garman-Klass, Rogers-Satchell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High-Low-Close based estimators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Cross-Asset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market_correlation, garch_volatility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DCC proxy + GARCH(1,1) σ_t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Temporal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hour/dow/month sin-cos, session flags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Cyclical encodings + opening/closing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Regime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regime (4 states from HMM)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Low / Normal / High / Extreme volatility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96D6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Results &amp; Analysis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Ablation Study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alibri"/>
              </a:defRPr>
            </a:pPr>
            <a:r>
              <a:t>Model A (with autoregressive input) vs Model B (without)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645920"/>
          <a:ext cx="9418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/>
                <a:gridCol w="2354580"/>
                <a:gridCol w="2354580"/>
                <a:gridCol w="23545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A (with AR)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B (w/o AR)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 (Gap)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0.976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0.258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−0.718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0.0093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0.0521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+0.043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MAPE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1.90%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19.26%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+17.4pp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Directional Accuracy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52.6%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47.5%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−5.1pp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QLIKE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−0.920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−0.883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+0.037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71.8 percentage point gap in R² quantifies the autoregressive contribution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Model A matches HAR-RV baselines — TFT effectively learns volatility persistence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Model B shows non-trivial feature-based prediction from exogenous features alone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Ablation Study — Visual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bl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Regime-Specific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463040"/>
          <a:ext cx="9418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664"/>
                <a:gridCol w="1883664"/>
                <a:gridCol w="1883664"/>
                <a:gridCol w="1883664"/>
                <a:gridCol w="188366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Regime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 Samples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MAPE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Low Volatility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58,066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0.989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0.007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1.67%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Normal Volatility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7,910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0.987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0.008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1.51%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 Volatility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2,800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0.999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0.003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1.13%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Extreme Volatility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1,764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0.765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0.036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6.54%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0233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Excellent performance in Low/Normal/High regimes (R² &gt; 0.98)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High Volatility achieves best R² = 0.999 — elevated but structured volatility is highly predictable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Expected degradation in Extreme regime (R² = 0.765) — rare events are harder to predict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Model adapts well across different market conditions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Stock × Regime R² Heatmap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ock_regim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Predicted vs Actual Volatility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atter_pred_vs_actual_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280160"/>
            <a:ext cx="7315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Interpretability — Variable Importance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ariabl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64008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RV_1d_lag75 dominates (60.4)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— confirms HAR-RV structure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Secondary: RV_1w (0.23),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market_correlation (0.13),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garch_volatility (0.12)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Decoder: is_opening highest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(opening auction effect)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Prediction Timeline — RELIANCE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meseries_RE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51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Per-Stock R²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2_per_st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Baseline Comparison — GARCH &amp; HAR-RV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46304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Stock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GARCH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HAR-RV R²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RELIANCE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GARCH(1,1)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0.993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HDFCBANK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GARCH(1,1)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0.993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TCS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EGARCH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0.990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INFY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GJR-GARCH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0.981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SBIN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EGARCH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0.993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ADANIPORTS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GARCH(1,1)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0.994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TATASTEEL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GARCH(1,1)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0.992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937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HAR-RV achieves R² &gt; 0.98 for all 14 stocks — a very strong statistical baseline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Our TFT (Model A) matches this performance (R² = 0.976) while providing interpretability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96D6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1.  Successfully built an end-to-end Regime-Aware TFT for next-day volatility forecasting across 14 Indian stocks using ~2.65M observations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2.  Model A achieves R² = 0.976, MAPE = 1.90% — matching strong HAR-RV baselines while providing deep learning interpretability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3.  Ablation study reveals 71.8pp R² gap → volatility persistence is the dominant predictive signal, but exogenous features provide non-trivial additional information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4.  Regime analysis: Excellent performance in calm markets (R² &gt; 0.98), expected degradation in extreme volatility (R² = 0.765)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5.  TFT's Variable Selection Networks confirm the model automatically learns HAR-RV-like structure (RV_1d_lag75 importance = 60.4)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96D6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Future Scope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1.  Regime-Specific Model Ensembles — Train specialized models per regime for improved extreme volatility prediction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2.  Multi-Horizon Prediction — Extend from next-day to 1-hour, 4-hour, and weekly forecasts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3.  Statistical Significance Testing — Diebold-Mariano tests to formally compare models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4.  Real-Time Deployment — Build a live prediction system with streaming 5-minute data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5.  Broader Market Coverage — Extend to Nifty 50 / sectoral indices and other asset classes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6.  Advanced Architectures — Experiment with Transformer variants (Informer, Autoformer) and Graph Neural Networks for cross-asset modeling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657600"/>
            <a:ext cx="301752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AA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alibri"/>
              </a:defRPr>
            </a:pPr>
            <a:r>
              <a:t>Abhishek Deep  |  M.Tech AI &amp; DS  |  Christ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